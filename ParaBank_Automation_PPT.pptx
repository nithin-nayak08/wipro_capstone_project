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1" r:id="rId11"/>
    <p:sldId id="267" r:id="rId12"/>
    <p:sldId id="268" r:id="rId13"/>
    <p:sldId id="283" r:id="rId14"/>
    <p:sldId id="269" r:id="rId15"/>
    <p:sldId id="285" r:id="rId16"/>
    <p:sldId id="270" r:id="rId17"/>
    <p:sldId id="284" r:id="rId18"/>
    <p:sldId id="271" r:id="rId19"/>
    <p:sldId id="282" r:id="rId20"/>
    <p:sldId id="272" r:id="rId21"/>
    <p:sldId id="273" r:id="rId22"/>
    <p:sldId id="291" r:id="rId23"/>
    <p:sldId id="274" r:id="rId24"/>
    <p:sldId id="275" r:id="rId25"/>
    <p:sldId id="276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78" y="4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3562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3576C-F1A5-8D8A-E3AD-53CC7381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5882FF-A549-AB7D-7773-340369E56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036F7-D489-E413-C62F-AA169E42E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20AC7-7B78-323F-D14E-D7C885D10F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08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509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99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B4DF3-1FC6-C98D-E03E-904DC80DD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ABC77-57D8-47F1-B8B8-9DA28DBD1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45A00-DDE4-7F79-DFF6-E2667CE17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92833-F2B0-5206-9572-0FFC2699BC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10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78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0857D-A61A-A329-C1BE-A9A638CCE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D803B-3605-5381-D452-1083F1721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52127-A985-B0FA-C34C-46D3AB9D0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65156-0609-DF83-5E03-B7668C961A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38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070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11144-9C57-972C-1694-6EC2AE8D1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ADB05-AB65-9D0C-DFFE-A2BD0AC0E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02C5B-BE5F-EAB8-F4AD-9B4730F50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4D04A-3F4A-3B8A-E245-870611CB9A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601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351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8D708-BA4C-E7E3-0F9A-D128838E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50E8E-F63D-68AB-AF32-C917CB860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17929-FC14-A391-5824-C01D4EE08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A5046-C769-B835-A208-5869B3B62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866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885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0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B3832-7E8B-2CC7-3570-658E5AD4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218DD-692B-13B0-E617-2C01CF76D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78187-0FCF-58BB-E2D8-39CB56709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9F04C-D113-E70C-E6FB-827CEBEEA7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213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182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476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59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548640"/>
            <a:ext cx="3840480" cy="384048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0"/>
            <a:ext cx="2560320" cy="25603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858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ParaBank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Framework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Automation Testing Project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34747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26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Guglavath Nithin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Wipro SDET Program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411980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1A3A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4165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05940" y="4411980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1A3A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43891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4416552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1A3A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44165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34840" y="4416552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1A3A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44165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77840" y="4416552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1A3A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44165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IDE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0F2342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996696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996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" y="91440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472184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162F5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" y="155448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6968" y="147218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2029968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0F2342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2112264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112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6968" y="202996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2587752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162F5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" y="2670048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6968" y="258775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1480" y="3145536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0F2342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" y="3227832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6968" y="314553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11480" y="3703320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162F5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785616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6968" y="37033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11480" y="4261104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0F2342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" y="434340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86968" y="426110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Modules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754880" y="914400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0F2342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032" y="996696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996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30368" y="91440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754880" y="1472184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162F5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28032" y="155448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30368" y="147218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754880" y="2029968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0F2342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2112264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2112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30368" y="202996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754880" y="2587752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162F5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28032" y="2670048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30368" y="258775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754880" y="3145536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0F2342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28032" y="3227832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30368" y="314553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4754880" y="3703320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162F5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28032" y="3785616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230368" y="37033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937760" cy="3840480"/>
          </a:xfrm>
          <a:prstGeom prst="roundRect">
            <a:avLst>
              <a:gd name="adj" fmla="val 2857"/>
            </a:avLst>
          </a:prstGeom>
          <a:solidFill>
            <a:srgbClr val="0F2342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4937760" cy="530352"/>
          </a:xfrm>
          <a:prstGeom prst="roundRect">
            <a:avLst>
              <a:gd name="adj" fmla="val 20690"/>
            </a:avLst>
          </a:prstGeom>
          <a:solidFill>
            <a:srgbClr val="0D9488">
              <a:alpha val="82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01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Introduction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is a web-based banking application used for performing core banking operations.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76272"/>
            <a:ext cx="4480560" cy="338328"/>
          </a:xfrm>
          <a:prstGeom prst="roundRect">
            <a:avLst>
              <a:gd name="adj" fmla="val 16216"/>
            </a:avLst>
          </a:prstGeom>
          <a:solidFill>
            <a:srgbClr val="162F5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7627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Customer Registration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69464"/>
            <a:ext cx="4480560" cy="338328"/>
          </a:xfrm>
          <a:prstGeom prst="roundRect">
            <a:avLst>
              <a:gd name="adj" fmla="val 16216"/>
            </a:avLst>
          </a:prstGeom>
          <a:solidFill>
            <a:srgbClr val="162F5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6946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Login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4480560" cy="338328"/>
          </a:xfrm>
          <a:prstGeom prst="roundRect">
            <a:avLst>
              <a:gd name="adj" fmla="val 16216"/>
            </a:avLst>
          </a:prstGeom>
          <a:solidFill>
            <a:srgbClr val="162F5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62656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Fund Transfer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55848"/>
            <a:ext cx="4480560" cy="338328"/>
          </a:xfrm>
          <a:prstGeom prst="roundRect">
            <a:avLst>
              <a:gd name="adj" fmla="val 16216"/>
            </a:avLst>
          </a:prstGeom>
          <a:solidFill>
            <a:srgbClr val="162F5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55848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Bill Payment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4480560" cy="338328"/>
          </a:xfrm>
          <a:prstGeom prst="roundRect">
            <a:avLst>
              <a:gd name="adj" fmla="val 16216"/>
            </a:avLst>
          </a:prstGeom>
          <a:solidFill>
            <a:srgbClr val="162F5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749040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Account Management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914400"/>
            <a:ext cx="3200400" cy="3840480"/>
          </a:xfrm>
          <a:prstGeom prst="roundRect">
            <a:avLst>
              <a:gd name="adj" fmla="val 3429"/>
            </a:avLst>
          </a:prstGeom>
          <a:solidFill>
            <a:srgbClr val="0F2342"/>
          </a:solidFill>
          <a:ln w="12700">
            <a:solidFill>
              <a:srgbClr val="38BDF8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914400"/>
            <a:ext cx="3200400" cy="530352"/>
          </a:xfrm>
          <a:prstGeom prst="roundRect">
            <a:avLst>
              <a:gd name="adj" fmla="val 20690"/>
            </a:avLst>
          </a:prstGeom>
          <a:solidFill>
            <a:srgbClr val="38BDF8">
              <a:alpha val="82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9601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Purpose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60720" y="157276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banking functionalities using Selenium WebDriver and TestNG to achieve reliable, repeatable and fast test execution.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286000" cy="14173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9260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Selenium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206240" cy="3886200"/>
          </a:xfrm>
          <a:prstGeom prst="roundRect">
            <a:avLst>
              <a:gd name="adj" fmla="val 2824"/>
            </a:avLst>
          </a:prstGeom>
          <a:solidFill>
            <a:srgbClr val="1A0A0A"/>
          </a:solidFill>
          <a:ln w="12700">
            <a:solidFill>
              <a:schemeClr val="accent1">
                <a:lumMod val="60000"/>
                <a:lumOff val="40000"/>
                <a:alpha val="55000"/>
              </a:scheme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4206240" cy="530352"/>
          </a:xfrm>
          <a:prstGeom prst="roundRect">
            <a:avLst>
              <a:gd name="adj" fmla="val 20690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  <a:alpha val="55000"/>
              </a:scheme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0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Existing Challenges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is: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38528"/>
            <a:ext cx="3749040" cy="347472"/>
          </a:xfrm>
          <a:prstGeom prst="roundRect">
            <a:avLst>
              <a:gd name="adj" fmla="val 18421"/>
            </a:avLst>
          </a:prstGeom>
          <a:solidFill>
            <a:srgbClr val="2A0A0A"/>
          </a:solidFill>
          <a:ln w="12700">
            <a:solidFill>
              <a:schemeClr val="bg2">
                <a:alpha val="35000"/>
              </a:scheme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385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Time Consuming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40864"/>
            <a:ext cx="3749040" cy="347472"/>
          </a:xfrm>
          <a:prstGeom prst="roundRect">
            <a:avLst>
              <a:gd name="adj" fmla="val 18421"/>
            </a:avLst>
          </a:prstGeom>
          <a:solidFill>
            <a:srgbClr val="2A0A0A"/>
          </a:solidFill>
          <a:ln w="12700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408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Repetitive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3749040" cy="347472"/>
          </a:xfrm>
          <a:prstGeom prst="roundRect">
            <a:avLst>
              <a:gd name="adj" fmla="val 18421"/>
            </a:avLst>
          </a:prstGeom>
          <a:solidFill>
            <a:srgbClr val="2A0A0A"/>
          </a:solidFill>
          <a:ln w="12700">
            <a:solidFill>
              <a:schemeClr val="bg2">
                <a:alpha val="35000"/>
              </a:scheme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432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Error Prone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3749040" cy="347472"/>
          </a:xfrm>
          <a:prstGeom prst="roundRect">
            <a:avLst>
              <a:gd name="adj" fmla="val 18421"/>
            </a:avLst>
          </a:prstGeom>
          <a:solidFill>
            <a:srgbClr val="2A0A0A"/>
          </a:solidFill>
          <a:ln w="12700">
            <a:solidFill>
              <a:schemeClr val="bg2">
                <a:alpha val="35000"/>
              </a:scheme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455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Difficult for Regression Testing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547872"/>
            <a:ext cx="3749040" cy="347472"/>
          </a:xfrm>
          <a:prstGeom prst="roundRect">
            <a:avLst>
              <a:gd name="adj" fmla="val 18421"/>
            </a:avLst>
          </a:prstGeom>
          <a:solidFill>
            <a:srgbClr val="2A0A0A"/>
          </a:solidFill>
          <a:ln w="12700">
            <a:solidFill>
              <a:schemeClr val="bg2">
                <a:alpha val="35000"/>
              </a:scheme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47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Resource Intensive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914400"/>
            <a:ext cx="3977640" cy="3886200"/>
          </a:xfrm>
          <a:prstGeom prst="roundRect">
            <a:avLst>
              <a:gd name="adj" fmla="val 2824"/>
            </a:avLst>
          </a:prstGeom>
          <a:solidFill>
            <a:srgbClr val="051A0F"/>
          </a:solidFill>
          <a:ln w="12700">
            <a:solidFill>
              <a:srgbClr val="22C55E">
                <a:alpha val="5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914400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22C55E">
              <a:alpha val="82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96012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Proposed Solution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3480" y="153619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automation framework that validates banking functionalities automatically — delivering speed, accuracy and repeatability.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2724912"/>
            <a:ext cx="3611880" cy="347472"/>
          </a:xfrm>
          <a:prstGeom prst="roundRect">
            <a:avLst>
              <a:gd name="adj" fmla="val 18421"/>
            </a:avLst>
          </a:prstGeom>
          <a:solidFill>
            <a:srgbClr val="0A2A18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7249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Automated Regression Suite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3127248"/>
            <a:ext cx="3611880" cy="347472"/>
          </a:xfrm>
          <a:prstGeom prst="roundRect">
            <a:avLst>
              <a:gd name="adj" fmla="val 18421"/>
            </a:avLst>
          </a:prstGeom>
          <a:solidFill>
            <a:srgbClr val="0A2A18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1272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 Zero Manual Intervention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3529584"/>
            <a:ext cx="3611880" cy="347472"/>
          </a:xfrm>
          <a:prstGeom prst="roundRect">
            <a:avLst>
              <a:gd name="adj" fmla="val 18421"/>
            </a:avLst>
          </a:prstGeom>
          <a:solidFill>
            <a:srgbClr val="0A2A18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5295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Consistent &amp; Reliable Results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83480" y="3931920"/>
            <a:ext cx="3611880" cy="347472"/>
          </a:xfrm>
          <a:prstGeom prst="roundRect">
            <a:avLst>
              <a:gd name="adj" fmla="val 18421"/>
            </a:avLst>
          </a:prstGeom>
          <a:solidFill>
            <a:srgbClr val="0A2A18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9319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Faster Test Cycles</a:t>
            </a:r>
            <a:endParaRPr lang="en-US" sz="1200" dirty="0"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2E198723-1587-0DBC-6552-59CDF89972B2}"/>
              </a:ext>
            </a:extLst>
          </p:cNvPr>
          <p:cNvSpPr/>
          <p:nvPr/>
        </p:nvSpPr>
        <p:spPr>
          <a:xfrm>
            <a:off x="0" y="-2286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following banking functionalities: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0F2342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813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👤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42032" y="13716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0F2342"/>
          </a:solidFill>
          <a:ln w="12700">
            <a:solidFill>
              <a:srgbClr val="38BDF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14813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42032" y="21762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18304" y="13716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0F2342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14813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💸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18304" y="21762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Funds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94576" y="13716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0F2342"/>
          </a:solidFill>
          <a:ln w="12700">
            <a:solidFill>
              <a:srgbClr val="2DD4BF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94576" y="14813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💳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94576" y="21762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1508760"/>
          </a:xfrm>
          <a:prstGeom prst="roundRect">
            <a:avLst>
              <a:gd name="adj" fmla="val 6061"/>
            </a:avLst>
          </a:prstGeom>
          <a:solidFill>
            <a:srgbClr val="0F2342"/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76732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162F50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76732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Faster Execution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51760" y="376732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162F50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24912" y="376732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Increased Accuracy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76732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162F50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76732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Reduced Human Errors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376732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162F50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1152" y="376732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 Reusable Scripts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Requirements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62F50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961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Website: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89611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https://parabank.parasoft.com/parabank/register.htm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Steps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0F2342"/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14884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48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0848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user via the registration form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0F2342"/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56946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25054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registration form with valid data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0F2342"/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99008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9260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registration success message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346704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0F2342"/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41071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34670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from the application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767328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0F2342"/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383133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37673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using the newly registered credentials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4187952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0F2342"/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25196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41879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successful login to Accounts Overview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760720" y="1691640"/>
            <a:ext cx="3017520" cy="3154680"/>
          </a:xfrm>
          <a:prstGeom prst="roundRect">
            <a:avLst>
              <a:gd name="adj" fmla="val 3636"/>
            </a:avLst>
          </a:prstGeom>
          <a:solidFill>
            <a:srgbClr val="1A1000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760720" y="1691640"/>
            <a:ext cx="3017520" cy="502920"/>
          </a:xfrm>
          <a:prstGeom prst="roundRect">
            <a:avLst>
              <a:gd name="adj" fmla="val 21818"/>
            </a:avLst>
          </a:prstGeom>
          <a:solidFill>
            <a:srgbClr val="F59E0B">
              <a:alpha val="8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1737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Constraint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943600" y="22860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unique username for every test execution run.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943600" y="324612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2A1A00"/>
          </a:solidFill>
          <a:ln w="12700">
            <a:solidFill>
              <a:schemeClr val="accent3">
                <a:lumMod val="60000"/>
                <a:lumOff val="40000"/>
                <a:alpha val="40000"/>
              </a:scheme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3246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user_" + System.currentTimeMillis()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43600" y="385876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unique username on every execution via timestamp.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0F2342"/>
          </a:solidFill>
          <a:ln w="12700">
            <a:solidFill>
              <a:srgbClr val="F89820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784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0F2342"/>
          </a:solidFill>
          <a:ln w="12700">
            <a:solidFill>
              <a:srgbClr val="43B02A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9784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🔬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37560" y="1618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9933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Automation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0F2342"/>
          </a:solidFill>
          <a:ln w="12700">
            <a:solidFill>
              <a:srgbClr val="C71A36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9784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17920" y="1618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9933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Management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0F2342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9443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57200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9593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83464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0F2342"/>
          </a:solidFill>
          <a:ln w="12700">
            <a:solidFill>
              <a:srgbClr val="38BDF8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29443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🌑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337560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IDE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37560" y="39593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83464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0F2342"/>
          </a:solidFill>
          <a:ln w="12700">
            <a:solidFill>
              <a:srgbClr val="4285F4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29443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217920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Browser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39593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Platform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Type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Framework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0F2342"/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774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Page Object Model (POM)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locators from test logic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172968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0F2342"/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186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Utility Classes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ConfigReader, ScreenshotUtil, BaseTest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014216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0F2342"/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0599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TestNG Framework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407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Annotations, grouping &amp; execution control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1901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0" y="233172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0F2342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24048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♻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102352" y="28803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02352" y="31821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use across all tests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03720" y="233172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0F2342"/>
          </a:solidFill>
          <a:ln w="12700">
            <a:solidFill>
              <a:srgbClr val="38BDF8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03720" y="24048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76872" y="28803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76872" y="31821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 one place, fix everywhere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3630168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0F2342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37033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102352" y="417880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02352" y="44805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modules without rewrites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3630168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0F2342"/>
          </a:solidFill>
          <a:ln w="12700">
            <a:solidFill>
              <a:srgbClr val="2DD4BF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03720" y="37033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976872" y="417880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76872" y="44805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test code, easy to review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023360" cy="3886200"/>
          </a:xfrm>
          <a:prstGeom prst="roundRect">
            <a:avLst>
              <a:gd name="adj" fmla="val 2824"/>
            </a:avLst>
          </a:prstGeom>
          <a:solidFill>
            <a:srgbClr val="0D1117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ParaBankAutomation/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📂 base/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7922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📂 pages/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1396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📂 testcases/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487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📂 utilities/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⚙ config.properties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182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🧪 testng.xml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5295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1A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📦 pom.xml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Benefits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09160" y="1389888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0F2342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73168" y="1463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68112" y="1463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68112" y="181051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a single responsibility — clean separation between pages, tests and utilities.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5603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0F2342"/>
          </a:solidFill>
          <a:ln w="12700">
            <a:solidFill>
              <a:srgbClr val="38BDF8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73168" y="2633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68112" y="26334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Maintenance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68112" y="298094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 locators or flows affect only the relevant page class, not test scripts.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730752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0F2342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73168" y="38039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68112" y="38039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68112" y="415137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modules can be added independently without disrupting existing test cases.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E73B2-18CB-712F-3EB2-631E38A8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1999FE-CF4A-6CBB-5DEB-48E897D8F234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D0233F-8DD7-9593-D68A-6017CDBD8C91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CCD4B0-CF45-7203-6D69-E49093F499CC}"/>
              </a:ext>
            </a:extLst>
          </p:cNvPr>
          <p:cNvSpPr/>
          <p:nvPr/>
        </p:nvSpPr>
        <p:spPr>
          <a:xfrm>
            <a:off x="8046720" y="1097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E2A656F-1DFF-B591-FCC6-615D19C156A9}"/>
              </a:ext>
            </a:extLst>
          </p:cNvPr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Object Model (POM)</a:t>
            </a:r>
            <a:endParaRPr lang="en-US" sz="3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4FFA3EA-0DE6-D1A8-2517-9102CE86EA15}"/>
              </a:ext>
            </a:extLst>
          </p:cNvPr>
          <p:cNvSpPr/>
          <p:nvPr/>
        </p:nvSpPr>
        <p:spPr>
          <a:xfrm>
            <a:off x="365760" y="86868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62F50"/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C95BCC6-B920-1D22-2C7E-CA4D342F73FC}"/>
              </a:ext>
            </a:extLst>
          </p:cNvPr>
          <p:cNvSpPr/>
          <p:nvPr/>
        </p:nvSpPr>
        <p:spPr>
          <a:xfrm>
            <a:off x="548640" y="89611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Pattern: Each web page is represented as a class with locators and methods, keeping test code clean and maintainable.</a:t>
            </a:r>
            <a:endParaRPr lang="en-US" sz="12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3D77CD5-861E-2F0E-1F21-18C14874EBCB}"/>
              </a:ext>
            </a:extLst>
          </p:cNvPr>
          <p:cNvSpPr/>
          <p:nvPr/>
        </p:nvSpPr>
        <p:spPr>
          <a:xfrm>
            <a:off x="457200" y="16642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Package – Classes</a:t>
            </a:r>
            <a:endParaRPr lang="en-US" sz="15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2FEA1BC-78BF-6A65-B714-176EF66977F1}"/>
              </a:ext>
            </a:extLst>
          </p:cNvPr>
          <p:cNvSpPr/>
          <p:nvPr/>
        </p:nvSpPr>
        <p:spPr>
          <a:xfrm>
            <a:off x="457200" y="205740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0F2342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36037D3-4943-135F-9765-2428639400F3}"/>
              </a:ext>
            </a:extLst>
          </p:cNvPr>
          <p:cNvSpPr/>
          <p:nvPr/>
        </p:nvSpPr>
        <p:spPr>
          <a:xfrm>
            <a:off x="457200" y="205740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4927245-B230-8F38-20C9-36E9E559C342}"/>
              </a:ext>
            </a:extLst>
          </p:cNvPr>
          <p:cNvSpPr/>
          <p:nvPr/>
        </p:nvSpPr>
        <p:spPr>
          <a:xfrm>
            <a:off x="530352" y="20574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RegisterPage.java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53729A3-EF84-3EEF-CC70-A906D5012834}"/>
              </a:ext>
            </a:extLst>
          </p:cNvPr>
          <p:cNvSpPr/>
          <p:nvPr/>
        </p:nvSpPr>
        <p:spPr>
          <a:xfrm>
            <a:off x="2286000" y="20574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fillForm(), submit(), verifySuccess()</a:t>
            </a:r>
            <a:endParaRPr lang="en-US" sz="10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6F9AFE8-BB84-B29D-1758-2770AB691649}"/>
              </a:ext>
            </a:extLst>
          </p:cNvPr>
          <p:cNvSpPr/>
          <p:nvPr/>
        </p:nvSpPr>
        <p:spPr>
          <a:xfrm>
            <a:off x="457200" y="269748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0F2342"/>
          </a:solidFill>
          <a:ln w="12700">
            <a:solidFill>
              <a:srgbClr val="38BDF8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D9C51CD-D06C-C310-2547-2BF26774ECD5}"/>
              </a:ext>
            </a:extLst>
          </p:cNvPr>
          <p:cNvSpPr/>
          <p:nvPr/>
        </p:nvSpPr>
        <p:spPr>
          <a:xfrm>
            <a:off x="457200" y="269748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38BDF8">
              <a:alpha val="75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AA58777-679E-C9C9-D572-4EFF4163AE75}"/>
              </a:ext>
            </a:extLst>
          </p:cNvPr>
          <p:cNvSpPr/>
          <p:nvPr/>
        </p:nvSpPr>
        <p:spPr>
          <a:xfrm>
            <a:off x="530352" y="26974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LoginPage.java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7E8190F-2615-9E6B-529C-70D080139918}"/>
              </a:ext>
            </a:extLst>
          </p:cNvPr>
          <p:cNvSpPr/>
          <p:nvPr/>
        </p:nvSpPr>
        <p:spPr>
          <a:xfrm>
            <a:off x="2286000" y="26974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enterCredentials(), clickLogin(), verify()</a:t>
            </a:r>
            <a:endParaRPr lang="en-US" sz="10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596A068-9290-9F8E-3AD8-38656261806A}"/>
              </a:ext>
            </a:extLst>
          </p:cNvPr>
          <p:cNvSpPr/>
          <p:nvPr/>
        </p:nvSpPr>
        <p:spPr>
          <a:xfrm>
            <a:off x="457200" y="333756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0F2342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4D4CA10-988C-3F80-E880-DCEA9679C076}"/>
              </a:ext>
            </a:extLst>
          </p:cNvPr>
          <p:cNvSpPr/>
          <p:nvPr/>
        </p:nvSpPr>
        <p:spPr>
          <a:xfrm>
            <a:off x="457200" y="333756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B537C50-C0E4-2CB0-6973-4C4E45F5823F}"/>
              </a:ext>
            </a:extLst>
          </p:cNvPr>
          <p:cNvSpPr/>
          <p:nvPr/>
        </p:nvSpPr>
        <p:spPr>
          <a:xfrm>
            <a:off x="530352" y="33375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TransferFundsPage.java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31BC672-E623-60F3-085B-B3B1B3B95946}"/>
              </a:ext>
            </a:extLst>
          </p:cNvPr>
          <p:cNvSpPr/>
          <p:nvPr/>
        </p:nvSpPr>
        <p:spPr>
          <a:xfrm>
            <a:off x="2286000" y="33375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selectAccounts(), enterAmount(), submit()</a:t>
            </a:r>
            <a:endParaRPr lang="en-US" sz="10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D19ADF4-2DDE-5BCB-417A-B1F7BAEF50D0}"/>
              </a:ext>
            </a:extLst>
          </p:cNvPr>
          <p:cNvSpPr/>
          <p:nvPr/>
        </p:nvSpPr>
        <p:spPr>
          <a:xfrm>
            <a:off x="457200" y="397764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0F2342"/>
          </a:solidFill>
          <a:ln w="12700">
            <a:solidFill>
              <a:srgbClr val="2DD4BF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40F223B-F39B-95A2-CF97-CE8743649102}"/>
              </a:ext>
            </a:extLst>
          </p:cNvPr>
          <p:cNvSpPr/>
          <p:nvPr/>
        </p:nvSpPr>
        <p:spPr>
          <a:xfrm>
            <a:off x="457200" y="397764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2DD4BF">
              <a:alpha val="75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52E65A9-7894-6553-A694-32C8931EE6F5}"/>
              </a:ext>
            </a:extLst>
          </p:cNvPr>
          <p:cNvSpPr/>
          <p:nvPr/>
        </p:nvSpPr>
        <p:spPr>
          <a:xfrm>
            <a:off x="530352" y="39776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BillPayPage.java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C50D4E9-3197-B474-6610-E77D160D5A64}"/>
              </a:ext>
            </a:extLst>
          </p:cNvPr>
          <p:cNvSpPr/>
          <p:nvPr/>
        </p:nvSpPr>
        <p:spPr>
          <a:xfrm>
            <a:off x="2286000" y="39776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enterPayee(), setAmount(), sendPayment()</a:t>
            </a:r>
            <a:endParaRPr lang="en-US" sz="10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F5D7DF4-79B7-39A8-68FB-596F4ED2A11E}"/>
              </a:ext>
            </a:extLst>
          </p:cNvPr>
          <p:cNvSpPr/>
          <p:nvPr/>
        </p:nvSpPr>
        <p:spPr>
          <a:xfrm>
            <a:off x="5577840" y="1664208"/>
            <a:ext cx="3200400" cy="315468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6093F43-C96B-6D92-CF64-54A0F182EF79}"/>
              </a:ext>
            </a:extLst>
          </p:cNvPr>
          <p:cNvSpPr/>
          <p:nvPr/>
        </p:nvSpPr>
        <p:spPr>
          <a:xfrm>
            <a:off x="5577840" y="1664208"/>
            <a:ext cx="3200400" cy="502920"/>
          </a:xfrm>
          <a:prstGeom prst="roundRect">
            <a:avLst>
              <a:gd name="adj" fmla="val 21818"/>
            </a:avLst>
          </a:prstGeom>
          <a:solidFill>
            <a:srgbClr val="0D9488">
              <a:alpha val="8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D8F9A91-7D96-1F33-635A-1B7AF6F6E5F8}"/>
              </a:ext>
            </a:extLst>
          </p:cNvPr>
          <p:cNvSpPr/>
          <p:nvPr/>
        </p:nvSpPr>
        <p:spPr>
          <a:xfrm>
            <a:off x="5760720" y="17190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Advantages</a:t>
            </a:r>
            <a:endParaRPr lang="en-US" sz="14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AC679CB-6D69-BA6E-15F0-3C55C47E201C}"/>
              </a:ext>
            </a:extLst>
          </p:cNvPr>
          <p:cNvSpPr/>
          <p:nvPr/>
        </p:nvSpPr>
        <p:spPr>
          <a:xfrm>
            <a:off x="5760720" y="2240280"/>
            <a:ext cx="2834640" cy="402336"/>
          </a:xfrm>
          <a:prstGeom prst="roundRect">
            <a:avLst>
              <a:gd name="adj" fmla="val 15909"/>
            </a:avLst>
          </a:prstGeom>
          <a:solidFill>
            <a:srgbClr val="162F50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E215D41-1463-AA27-7A85-DC928C69AB78}"/>
              </a:ext>
            </a:extLst>
          </p:cNvPr>
          <p:cNvSpPr/>
          <p:nvPr/>
        </p:nvSpPr>
        <p:spPr>
          <a:xfrm>
            <a:off x="5870448" y="22402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 Reusable Locators</a:t>
            </a:r>
            <a:endParaRPr lang="en-US" sz="11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3816312-FCFC-573B-2931-73C6427C05EE}"/>
              </a:ext>
            </a:extLst>
          </p:cNvPr>
          <p:cNvSpPr/>
          <p:nvPr/>
        </p:nvSpPr>
        <p:spPr>
          <a:xfrm>
            <a:off x="5760720" y="2715768"/>
            <a:ext cx="2834640" cy="402336"/>
          </a:xfrm>
          <a:prstGeom prst="roundRect">
            <a:avLst>
              <a:gd name="adj" fmla="val 15909"/>
            </a:avLst>
          </a:prstGeom>
          <a:solidFill>
            <a:srgbClr val="162F50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3014DC6-F503-60E5-FB90-5F6496483529}"/>
              </a:ext>
            </a:extLst>
          </p:cNvPr>
          <p:cNvSpPr/>
          <p:nvPr/>
        </p:nvSpPr>
        <p:spPr>
          <a:xfrm>
            <a:off x="5870448" y="27157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Better Maintainability</a:t>
            </a:r>
            <a:endParaRPr lang="en-US" sz="11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CC60BD6-6D3B-C8CE-1C13-4AA42904A7CE}"/>
              </a:ext>
            </a:extLst>
          </p:cNvPr>
          <p:cNvSpPr/>
          <p:nvPr/>
        </p:nvSpPr>
        <p:spPr>
          <a:xfrm>
            <a:off x="5760720" y="3191256"/>
            <a:ext cx="2834640" cy="402336"/>
          </a:xfrm>
          <a:prstGeom prst="roundRect">
            <a:avLst>
              <a:gd name="adj" fmla="val 15909"/>
            </a:avLst>
          </a:prstGeom>
          <a:solidFill>
            <a:srgbClr val="162F50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6E7AF57-1D61-5B35-EF03-EAD7DF16D0D0}"/>
              </a:ext>
            </a:extLst>
          </p:cNvPr>
          <p:cNvSpPr/>
          <p:nvPr/>
        </p:nvSpPr>
        <p:spPr>
          <a:xfrm>
            <a:off x="5870448" y="319125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Reduced Code Duplication</a:t>
            </a:r>
            <a:endParaRPr lang="en-US" sz="115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DE88AAA-B8D4-AC04-E64A-FE56428208D9}"/>
              </a:ext>
            </a:extLst>
          </p:cNvPr>
          <p:cNvSpPr/>
          <p:nvPr/>
        </p:nvSpPr>
        <p:spPr>
          <a:xfrm>
            <a:off x="5760720" y="3666744"/>
            <a:ext cx="2834640" cy="402336"/>
          </a:xfrm>
          <a:prstGeom prst="roundRect">
            <a:avLst>
              <a:gd name="adj" fmla="val 15909"/>
            </a:avLst>
          </a:prstGeom>
          <a:solidFill>
            <a:srgbClr val="162F50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82AE52C-CB2C-781D-FAE7-6C03E9D09DBA}"/>
              </a:ext>
            </a:extLst>
          </p:cNvPr>
          <p:cNvSpPr/>
          <p:nvPr/>
        </p:nvSpPr>
        <p:spPr>
          <a:xfrm>
            <a:off x="5870448" y="366674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Clean Test Classes</a:t>
            </a:r>
            <a:endParaRPr lang="en-US" sz="11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AE4E7B89-5131-D8AD-4D01-E0FB78163793}"/>
              </a:ext>
            </a:extLst>
          </p:cNvPr>
          <p:cNvSpPr/>
          <p:nvPr/>
        </p:nvSpPr>
        <p:spPr>
          <a:xfrm>
            <a:off x="5760720" y="4142232"/>
            <a:ext cx="2834640" cy="402336"/>
          </a:xfrm>
          <a:prstGeom prst="roundRect">
            <a:avLst>
              <a:gd name="adj" fmla="val 15909"/>
            </a:avLst>
          </a:prstGeom>
          <a:solidFill>
            <a:srgbClr val="162F50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08A0CD9-25DB-731E-4E8A-FEA8CB46A22C}"/>
              </a:ext>
            </a:extLst>
          </p:cNvPr>
          <p:cNvSpPr/>
          <p:nvPr/>
        </p:nvSpPr>
        <p:spPr>
          <a:xfrm>
            <a:off x="5870448" y="41422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Easier Debugging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17500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11 – Project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874520" cy="16002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033272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033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1848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21992" y="150876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41448" y="960120"/>
            <a:ext cx="1874520" cy="1600200"/>
          </a:xfrm>
          <a:prstGeom prst="roundRect">
            <a:avLst>
              <a:gd name="adj" fmla="val 8000"/>
            </a:avLst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99816" y="1033272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9816" y="1033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90088" y="161848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87168" y="2029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43400" y="150876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62856" y="960120"/>
            <a:ext cx="1874520" cy="1600200"/>
          </a:xfrm>
          <a:prstGeom prst="roundRect">
            <a:avLst>
              <a:gd name="adj" fmla="val 800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21224" y="1033272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21224" y="1033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11496" y="161848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08576" y="2029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64808" y="150876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</a:rPr>
              <a:t>▶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84264" y="960120"/>
            <a:ext cx="1874520" cy="1600200"/>
          </a:xfrm>
          <a:prstGeom prst="roundRect">
            <a:avLst>
              <a:gd name="adj" fmla="val 8000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42632" y="1033272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42632" y="1033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32904" y="161848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29984" y="2029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2926080"/>
            <a:ext cx="1874520" cy="16002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" y="2999232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35844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65760" y="3995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221992" y="347472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</a:rPr>
              <a:t>▶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441448" y="2926080"/>
            <a:ext cx="1874520" cy="1600200"/>
          </a:xfrm>
          <a:prstGeom prst="roundRect">
            <a:avLst>
              <a:gd name="adj" fmla="val 8000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99816" y="2999232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99816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990088" y="35844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2487168" y="3995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343400" y="347472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</a:rPr>
              <a:t>▶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562856" y="2926080"/>
            <a:ext cx="1874520" cy="1600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21224" y="2999232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21224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11496" y="35844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🚪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608576" y="3995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64808" y="347472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</a:rPr>
              <a:t>▶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684264" y="2926080"/>
            <a:ext cx="1874520" cy="160020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42632" y="2999232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42632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32904" y="35844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729984" y="3995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315968" y="2542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CD4"/>
                </a:solidFill>
              </a:rPr>
              <a:t>▼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Test Execution Flow</a:t>
            </a:r>
            <a:endParaRPr lang="en-US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6EBE65-5567-336D-34C1-B1C88C511905}"/>
              </a:ext>
            </a:extLst>
          </p:cNvPr>
          <p:cNvSpPr txBox="1"/>
          <p:nvPr/>
        </p:nvSpPr>
        <p:spPr>
          <a:xfrm>
            <a:off x="3705872" y="476807"/>
            <a:ext cx="2960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Project Workflow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0">
            <a:extLst>
              <a:ext uri="{FF2B5EF4-FFF2-40B4-BE49-F238E27FC236}">
                <a16:creationId xmlns:a16="http://schemas.microsoft.com/office/drawing/2014/main" id="{F1859928-E3E8-FB55-E771-057B1F340307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2114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12 – Registration Module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  Activities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749040" cy="594360"/>
          </a:xfrm>
          <a:prstGeom prst="roundRect">
            <a:avLst>
              <a:gd name="adj" fmla="val 10769"/>
            </a:avLst>
          </a:prstGeom>
          <a:solidFill>
            <a:srgbClr val="EEF5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18488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18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554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Registration Page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3749040" cy="594360"/>
          </a:xfrm>
          <a:prstGeom prst="roundRect">
            <a:avLst>
              <a:gd name="adj" fmla="val 10769"/>
            </a:avLst>
          </a:prstGeom>
          <a:solidFill>
            <a:srgbClr val="F5F9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68296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3042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 Details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3749040" cy="594360"/>
          </a:xfrm>
          <a:prstGeom prst="roundRect">
            <a:avLst>
              <a:gd name="adj" fmla="val 10769"/>
            </a:avLst>
          </a:prstGeom>
          <a:solidFill>
            <a:srgbClr val="EEF5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18104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0540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Dynamic Username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3749040" cy="594360"/>
          </a:xfrm>
          <a:prstGeom prst="roundRect">
            <a:avLst>
              <a:gd name="adj" fmla="val 10769"/>
            </a:avLst>
          </a:prstGeom>
          <a:solidFill>
            <a:srgbClr val="F5F9FF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67912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67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80390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09160" y="914400"/>
            <a:ext cx="41148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914400"/>
            <a:ext cx="41148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9144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Validation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46320" y="1508760"/>
            <a:ext cx="3840480" cy="1143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600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Registration Successful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3776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message displayed with username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2880360"/>
            <a:ext cx="3840480" cy="1143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9718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Logout Link Displayed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37760" y="3383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user is logged in after registration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858768"/>
            <a:ext cx="3840480" cy="64008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user = "nithin"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System.currentTimeMillis();</a:t>
            </a:r>
            <a:endParaRPr lang="en-US" sz="11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DC659D-0173-F429-89C6-B23C80DDBD9B}"/>
              </a:ext>
            </a:extLst>
          </p:cNvPr>
          <p:cNvSpPr txBox="1"/>
          <p:nvPr/>
        </p:nvSpPr>
        <p:spPr>
          <a:xfrm>
            <a:off x="3481099" y="545068"/>
            <a:ext cx="2696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Module</a:t>
            </a:r>
            <a:endParaRPr lang="en-IN" dirty="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5700D26E-AFB8-5ED7-61E7-A625E320DC85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98457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96A28-2695-E07E-A3FC-64277381B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9A2ECB-500F-9D20-0608-9AFB943038A4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7CC0C2-1BC7-68A0-5681-9E21723CF279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8CCF41-223E-61EA-A30A-EBF8AE6E5B1A}"/>
              </a:ext>
            </a:extLst>
          </p:cNvPr>
          <p:cNvSpPr/>
          <p:nvPr/>
        </p:nvSpPr>
        <p:spPr>
          <a:xfrm>
            <a:off x="8046720" y="1097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EC93E56-E173-641D-DC57-DBCEDAB530C0}"/>
              </a:ext>
            </a:extLst>
          </p:cNvPr>
          <p:cNvSpPr/>
          <p:nvPr/>
        </p:nvSpPr>
        <p:spPr>
          <a:xfrm>
            <a:off x="548640" y="89611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9BF37B-4D0E-9D06-9444-0C4884D2A08C}"/>
              </a:ext>
            </a:extLst>
          </p:cNvPr>
          <p:cNvSpPr/>
          <p:nvPr/>
        </p:nvSpPr>
        <p:spPr>
          <a:xfrm>
            <a:off x="457200" y="16642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6700905-8AEE-4F66-5178-72C801AA80D5}"/>
              </a:ext>
            </a:extLst>
          </p:cNvPr>
          <p:cNvSpPr/>
          <p:nvPr/>
        </p:nvSpPr>
        <p:spPr>
          <a:xfrm>
            <a:off x="3749040" y="234907"/>
            <a:ext cx="1513139" cy="311631"/>
          </a:xfrm>
          <a:prstGeom prst="roundRect">
            <a:avLst>
              <a:gd name="adj" fmla="val 12903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pPr algn="ctr">
              <a:defRPr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RegisterPage.java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5052A38-C73B-B975-8CC9-293E064EA732}"/>
              </a:ext>
            </a:extLst>
          </p:cNvPr>
          <p:cNvSpPr/>
          <p:nvPr/>
        </p:nvSpPr>
        <p:spPr>
          <a:xfrm>
            <a:off x="2286000" y="20574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0A3F073-E8C3-7908-CA2F-548C3EFA0B3F}"/>
              </a:ext>
            </a:extLst>
          </p:cNvPr>
          <p:cNvSpPr/>
          <p:nvPr/>
        </p:nvSpPr>
        <p:spPr>
          <a:xfrm>
            <a:off x="2286000" y="26974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166C6B9-F1AD-E380-44BD-86929080E08E}"/>
              </a:ext>
            </a:extLst>
          </p:cNvPr>
          <p:cNvSpPr/>
          <p:nvPr/>
        </p:nvSpPr>
        <p:spPr>
          <a:xfrm>
            <a:off x="530352" y="33375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1814C7D-0520-50D9-414A-D1F37492F836}"/>
              </a:ext>
            </a:extLst>
          </p:cNvPr>
          <p:cNvSpPr/>
          <p:nvPr/>
        </p:nvSpPr>
        <p:spPr>
          <a:xfrm>
            <a:off x="5760720" y="17190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5D94870-26C7-BB50-AA1E-AE48BC80702A}"/>
              </a:ext>
            </a:extLst>
          </p:cNvPr>
          <p:cNvSpPr/>
          <p:nvPr/>
        </p:nvSpPr>
        <p:spPr>
          <a:xfrm>
            <a:off x="5870448" y="27157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4185BE-E3D9-31E3-1C50-0161FF4B5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48" y="632283"/>
            <a:ext cx="6828921" cy="426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221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13 – Login Module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Automation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685800"/>
          </a:xfrm>
          <a:prstGeom prst="roundRect">
            <a:avLst>
              <a:gd name="adj" fmla="val 10667"/>
            </a:avLst>
          </a:prstGeom>
          <a:solidFill>
            <a:srgbClr val="EEF5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490472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Enter Username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733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dynamically registered username into the login field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52360" y="1490472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1490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30552"/>
            <a:ext cx="8503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295144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17627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Enter Password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4780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password used during registration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52360" y="2295144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22951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35224"/>
            <a:ext cx="8503920" cy="685800"/>
          </a:xfrm>
          <a:prstGeom prst="roundRect">
            <a:avLst>
              <a:gd name="adj" fmla="val 10667"/>
            </a:avLst>
          </a:prstGeom>
          <a:solidFill>
            <a:srgbClr val="EEF5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3099816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099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29809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  Click Login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28269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login form by clicking the Login button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52360" y="3099816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309981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822192"/>
            <a:ext cx="8503920" cy="109728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822192"/>
            <a:ext cx="850392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221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Validation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" y="42793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 "Accounts Overview"  page is displayed successfully after login.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C110DC-85A1-C44F-7D35-ED9DCED4B9E4}"/>
              </a:ext>
            </a:extLst>
          </p:cNvPr>
          <p:cNvSpPr txBox="1"/>
          <p:nvPr/>
        </p:nvSpPr>
        <p:spPr>
          <a:xfrm>
            <a:off x="3047291" y="407908"/>
            <a:ext cx="3049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Login Module</a:t>
            </a:r>
            <a:endParaRPr lang="en-IN" dirty="0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BD67FBE0-7477-60D0-6F60-6FB283B69622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04813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CC34A-8C46-59BC-3227-B8B716363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AA5CE5-0B20-CAB1-DB9E-FF8ED18A512F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EF21B1-F3CB-3B7C-D2DC-2BEC1E735826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D3E9BC-CB2D-672F-6CB7-F7EA442859D2}"/>
              </a:ext>
            </a:extLst>
          </p:cNvPr>
          <p:cNvSpPr/>
          <p:nvPr/>
        </p:nvSpPr>
        <p:spPr>
          <a:xfrm>
            <a:off x="8046720" y="1097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E50AF79-A71F-A0E1-71A2-49FB986D3DDF}"/>
              </a:ext>
            </a:extLst>
          </p:cNvPr>
          <p:cNvSpPr/>
          <p:nvPr/>
        </p:nvSpPr>
        <p:spPr>
          <a:xfrm>
            <a:off x="548640" y="89611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9BA1386-E817-D87F-CEE3-17703B1E6920}"/>
              </a:ext>
            </a:extLst>
          </p:cNvPr>
          <p:cNvSpPr/>
          <p:nvPr/>
        </p:nvSpPr>
        <p:spPr>
          <a:xfrm>
            <a:off x="457200" y="16642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68095EB-AD03-80EA-5352-BFE17B5F29AA}"/>
              </a:ext>
            </a:extLst>
          </p:cNvPr>
          <p:cNvSpPr/>
          <p:nvPr/>
        </p:nvSpPr>
        <p:spPr>
          <a:xfrm>
            <a:off x="3749040" y="234907"/>
            <a:ext cx="1280160" cy="286301"/>
          </a:xfrm>
          <a:prstGeom prst="roundRect">
            <a:avLst>
              <a:gd name="adj" fmla="val 12903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LoginPage.java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EE3F911-BFCD-97BD-80B9-D5F2E744CFF3}"/>
              </a:ext>
            </a:extLst>
          </p:cNvPr>
          <p:cNvSpPr/>
          <p:nvPr/>
        </p:nvSpPr>
        <p:spPr>
          <a:xfrm>
            <a:off x="2286000" y="20574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13BA3F4-08EF-8EBC-A3DF-EBB037E13AB7}"/>
              </a:ext>
            </a:extLst>
          </p:cNvPr>
          <p:cNvSpPr/>
          <p:nvPr/>
        </p:nvSpPr>
        <p:spPr>
          <a:xfrm>
            <a:off x="2286000" y="26974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8A5CD36-139E-E324-ACDC-0848AF746AE0}"/>
              </a:ext>
            </a:extLst>
          </p:cNvPr>
          <p:cNvSpPr/>
          <p:nvPr/>
        </p:nvSpPr>
        <p:spPr>
          <a:xfrm>
            <a:off x="530352" y="33375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0FC5D8D-4A1F-F2D2-8057-CDFA4C95667C}"/>
              </a:ext>
            </a:extLst>
          </p:cNvPr>
          <p:cNvSpPr/>
          <p:nvPr/>
        </p:nvSpPr>
        <p:spPr>
          <a:xfrm>
            <a:off x="5760720" y="17190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829E9B4-07DE-4C2D-E7B6-3474F8993D1B}"/>
              </a:ext>
            </a:extLst>
          </p:cNvPr>
          <p:cNvSpPr/>
          <p:nvPr/>
        </p:nvSpPr>
        <p:spPr>
          <a:xfrm>
            <a:off x="5870448" y="27157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2C3FCE-1BA2-2CBC-39EF-E69183C4A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761" y="608509"/>
            <a:ext cx="6912477" cy="432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50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14 – Transfer Funds Module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Funds Automation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5720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4572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7922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32257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Transfer Funds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85292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Amount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3832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Transfer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66360" y="1298448"/>
            <a:ext cx="3657600" cy="2834640"/>
          </a:xfrm>
          <a:prstGeom prst="roundRect">
            <a:avLst>
              <a:gd name="adj" fmla="val 3871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66360" y="1298448"/>
            <a:ext cx="36576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298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Expected Result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57800" y="181051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should complete successfully.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2514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Confirmation message shown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29718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Amount deducted from source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3429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Destination account credited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425196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793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transfer.enterAmount("100");  transfer.selectFromAccount();  transfer.clickTransfer();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Assert.assertTrue(transfer.isTransferSuccessful());</a:t>
            </a:r>
            <a:endParaRPr lang="en-US" sz="11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990AE9-50E6-5FE8-7A99-5027DCEA4711}"/>
              </a:ext>
            </a:extLst>
          </p:cNvPr>
          <p:cNvSpPr txBox="1"/>
          <p:nvPr/>
        </p:nvSpPr>
        <p:spPr>
          <a:xfrm>
            <a:off x="3053671" y="433808"/>
            <a:ext cx="3525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Transfer Funds Module</a:t>
            </a:r>
            <a:endParaRPr lang="en-IN" dirty="0"/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C61A4146-1DD5-1B1B-31F8-EFAB14FE9FE0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82635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0BFD6-BC24-B0E3-A798-E4907D3A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ED241F-4484-4DF7-38DA-24CD6A57BD6C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6134D4-1098-EC65-4087-9C45C2C41670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9200FE-EB2C-F535-C263-D6AD2AA2618F}"/>
              </a:ext>
            </a:extLst>
          </p:cNvPr>
          <p:cNvSpPr/>
          <p:nvPr/>
        </p:nvSpPr>
        <p:spPr>
          <a:xfrm>
            <a:off x="8046720" y="1097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673CA13-6609-D8B7-BD51-BF976D32ED5B}"/>
              </a:ext>
            </a:extLst>
          </p:cNvPr>
          <p:cNvSpPr/>
          <p:nvPr/>
        </p:nvSpPr>
        <p:spPr>
          <a:xfrm>
            <a:off x="548640" y="89611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610DE26-BE6D-5CF9-0812-2BFC3EAA201B}"/>
              </a:ext>
            </a:extLst>
          </p:cNvPr>
          <p:cNvSpPr/>
          <p:nvPr/>
        </p:nvSpPr>
        <p:spPr>
          <a:xfrm>
            <a:off x="457200" y="16642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7FF6B79-40C0-31DC-9442-418509F022C3}"/>
              </a:ext>
            </a:extLst>
          </p:cNvPr>
          <p:cNvSpPr/>
          <p:nvPr/>
        </p:nvSpPr>
        <p:spPr>
          <a:xfrm>
            <a:off x="3749040" y="234907"/>
            <a:ext cx="1884505" cy="286301"/>
          </a:xfrm>
          <a:prstGeom prst="roundRect">
            <a:avLst>
              <a:gd name="adj" fmla="val 12903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TransferFundsPage.java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5DA7AF6-35DE-4FC9-212A-60CE8A915E85}"/>
              </a:ext>
            </a:extLst>
          </p:cNvPr>
          <p:cNvSpPr/>
          <p:nvPr/>
        </p:nvSpPr>
        <p:spPr>
          <a:xfrm>
            <a:off x="2286000" y="20574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E2C9A8F-48DF-0E89-3750-CEA9D950A414}"/>
              </a:ext>
            </a:extLst>
          </p:cNvPr>
          <p:cNvSpPr/>
          <p:nvPr/>
        </p:nvSpPr>
        <p:spPr>
          <a:xfrm>
            <a:off x="2286000" y="26974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092B810-1F98-EF4F-92F2-8B6929DE0BE5}"/>
              </a:ext>
            </a:extLst>
          </p:cNvPr>
          <p:cNvSpPr/>
          <p:nvPr/>
        </p:nvSpPr>
        <p:spPr>
          <a:xfrm>
            <a:off x="530352" y="33375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C6B7E05-BEA3-3EBF-ACC9-7ED046E29C25}"/>
              </a:ext>
            </a:extLst>
          </p:cNvPr>
          <p:cNvSpPr/>
          <p:nvPr/>
        </p:nvSpPr>
        <p:spPr>
          <a:xfrm>
            <a:off x="5760720" y="17190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3D1F6F6-6E55-DFB9-09E7-2FFDCB0308F5}"/>
              </a:ext>
            </a:extLst>
          </p:cNvPr>
          <p:cNvSpPr/>
          <p:nvPr/>
        </p:nvSpPr>
        <p:spPr>
          <a:xfrm>
            <a:off x="5870448" y="27157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16BE2C-22E3-3E4B-783F-86D11954E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796" y="608001"/>
            <a:ext cx="6898991" cy="431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89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15 – Bill Payment Module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Pay Automation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5720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457200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7922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32257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Bill Pay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85292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Payee Details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3832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Payment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66360" y="1298448"/>
            <a:ext cx="3657600" cy="2834640"/>
          </a:xfrm>
          <a:prstGeom prst="roundRect">
            <a:avLst>
              <a:gd name="adj" fmla="val 3871"/>
            </a:avLst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66360" y="1298448"/>
            <a:ext cx="365760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298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Expected Result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57800" y="181051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payment completed successfully.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2514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Payment success message shown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29718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Transaction visible in history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3429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Account balance updated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425196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0D1B2A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793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billPay.enterPayeeName(name);  billPay.enterAccount(accNo);  billPay.enterAmount("50");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billPay.clickSendPayment();  Assert.assertTrue(billPay.isPaymentComplete());</a:t>
            </a:r>
            <a:endParaRPr lang="en-US" sz="11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60FF29-D891-EFA4-B0CE-37C3DA7AF65F}"/>
              </a:ext>
            </a:extLst>
          </p:cNvPr>
          <p:cNvSpPr txBox="1"/>
          <p:nvPr/>
        </p:nvSpPr>
        <p:spPr>
          <a:xfrm>
            <a:off x="3177008" y="310471"/>
            <a:ext cx="3419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Bill Payment Module</a:t>
            </a:r>
            <a:endParaRPr lang="en-IN" dirty="0"/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CD00075E-ADEE-DACE-AF72-82C597CC72B7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92089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1FDD4-B44D-6DA6-30FF-AD1F6CAC8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02ED3E-0C6F-C22A-1FB9-CEF359D1881B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4E777A8-44F5-B56A-59B3-3259CCF40768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871D5E-C93C-37A2-20BC-55F234582921}"/>
              </a:ext>
            </a:extLst>
          </p:cNvPr>
          <p:cNvSpPr/>
          <p:nvPr/>
        </p:nvSpPr>
        <p:spPr>
          <a:xfrm>
            <a:off x="8046720" y="1097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86BCA10-5371-F324-4942-D61A6B01F180}"/>
              </a:ext>
            </a:extLst>
          </p:cNvPr>
          <p:cNvSpPr/>
          <p:nvPr/>
        </p:nvSpPr>
        <p:spPr>
          <a:xfrm>
            <a:off x="548640" y="89611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75928A-6514-8E1D-AD74-20EA52689F72}"/>
              </a:ext>
            </a:extLst>
          </p:cNvPr>
          <p:cNvSpPr/>
          <p:nvPr/>
        </p:nvSpPr>
        <p:spPr>
          <a:xfrm>
            <a:off x="457200" y="16642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00D0FF1-45E0-80CB-C99B-D4BE670D77D9}"/>
              </a:ext>
            </a:extLst>
          </p:cNvPr>
          <p:cNvSpPr/>
          <p:nvPr/>
        </p:nvSpPr>
        <p:spPr>
          <a:xfrm>
            <a:off x="3749040" y="234907"/>
            <a:ext cx="1737360" cy="325645"/>
          </a:xfrm>
          <a:prstGeom prst="roundRect">
            <a:avLst>
              <a:gd name="adj" fmla="val 12903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BillPage.java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6B31407-0A80-3295-2A05-B93F9EDD6444}"/>
              </a:ext>
            </a:extLst>
          </p:cNvPr>
          <p:cNvSpPr/>
          <p:nvPr/>
        </p:nvSpPr>
        <p:spPr>
          <a:xfrm>
            <a:off x="2286000" y="20574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5F4C9B8-6AC1-A5FE-5D68-7B93B59D8E1E}"/>
              </a:ext>
            </a:extLst>
          </p:cNvPr>
          <p:cNvSpPr/>
          <p:nvPr/>
        </p:nvSpPr>
        <p:spPr>
          <a:xfrm>
            <a:off x="2286000" y="26974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DFE3FDE-2BF0-F407-70F1-A7D7FA3A0F67}"/>
              </a:ext>
            </a:extLst>
          </p:cNvPr>
          <p:cNvSpPr/>
          <p:nvPr/>
        </p:nvSpPr>
        <p:spPr>
          <a:xfrm>
            <a:off x="530352" y="33375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6366B0F-DC4B-987E-7D4F-059D915BEFC9}"/>
              </a:ext>
            </a:extLst>
          </p:cNvPr>
          <p:cNvSpPr/>
          <p:nvPr/>
        </p:nvSpPr>
        <p:spPr>
          <a:xfrm>
            <a:off x="5760720" y="17190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6DE984C-DAB4-D103-6EC4-1FAD04217339}"/>
              </a:ext>
            </a:extLst>
          </p:cNvPr>
          <p:cNvSpPr/>
          <p:nvPr/>
        </p:nvSpPr>
        <p:spPr>
          <a:xfrm>
            <a:off x="5870448" y="27157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B36A06B-BD34-F43C-F640-7F05AB6A6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139" y="676795"/>
            <a:ext cx="6971162" cy="435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16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16 –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3623"/>
            <a:ext cx="85039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43891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 ConfigReader Utility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configuration values from config.properties file — test data is never hardcoded in test classes.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984248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1170432" y="1984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1000" dirty="0" err="1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0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https://parabank.parasoft.com/parabank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64992" y="1984248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984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10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username=</a:t>
            </a:r>
            <a:r>
              <a:rPr lang="en-IN" sz="1000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Nithinnayak08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59552" y="1984248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9552" y="1984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1000" u="sng" dirty="0">
                <a:solidFill>
                  <a:srgbClr val="66AFF9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IN" sz="10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Admin123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40396" y="1664208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47688" y="2212423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85039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63240"/>
            <a:ext cx="8503920" cy="43891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632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📸  Screenshot Utility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3566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full-page screenshots during execution and on failure for defect analysis.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873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70432" y="4087368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40873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captureScreenshot(driver, testName)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64992" y="4087368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40873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Saves to /screenshots folder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68112" y="3630168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10528" y="3630168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552944" y="3630168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75821E-09CB-F804-D068-415FEDC47864}"/>
              </a:ext>
            </a:extLst>
          </p:cNvPr>
          <p:cNvSpPr txBox="1"/>
          <p:nvPr/>
        </p:nvSpPr>
        <p:spPr>
          <a:xfrm>
            <a:off x="3104707" y="225410"/>
            <a:ext cx="323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Utilities Implemented</a:t>
            </a:r>
            <a:endParaRPr lang="en-IN" dirty="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58D4BB77-2033-F0C5-DBBB-F47726B49DFB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8325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7006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17 – Dynamic Username Handling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822960"/>
          </a:xfrm>
          <a:prstGeom prst="roundRect">
            <a:avLst>
              <a:gd name="adj" fmla="val 11111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F3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does not allow duplicate usernames — re-running the same test with the same username causes registration failure.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8503920" cy="365760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 Solution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359152"/>
            <a:ext cx="8503920" cy="1508760"/>
          </a:xfrm>
          <a:prstGeom prst="roundRect">
            <a:avLst>
              <a:gd name="adj" fmla="val 6061"/>
            </a:avLst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23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String generateUsername(String prefix)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prefix + System.currentTimeMillis();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 in RegisterPage test: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username = </a:t>
            </a:r>
            <a:r>
              <a:rPr lang="en-US" sz="1300" dirty="0" err="1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TestDataGenerator.generateUsername</a:t>
            </a:r>
            <a:r>
              <a:rPr lang="en-US" sz="13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(“</a:t>
            </a:r>
            <a:r>
              <a:rPr lang="en-US" sz="1300" dirty="0" err="1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nithin</a:t>
            </a:r>
            <a:r>
              <a:rPr lang="en-US" sz="13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nithin1780980138851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97764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24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nithin1780980138851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3977640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0050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Ensures successful execution every time — zero conflicts between runs.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AD2FD5-1DF3-6B5B-5DAE-4676474FBA68}"/>
              </a:ext>
            </a:extLst>
          </p:cNvPr>
          <p:cNvSpPr txBox="1"/>
          <p:nvPr/>
        </p:nvSpPr>
        <p:spPr>
          <a:xfrm>
            <a:off x="2666646" y="165868"/>
            <a:ext cx="354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Dynamic Username Handling</a:t>
            </a:r>
            <a:endParaRPr lang="en-IN" dirty="0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C3C46050-6C10-FF64-B8E0-34816222C576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77816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AFD1D-5918-A4FA-38EF-5A2D169B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2F5A90-A5C2-EF35-292D-CD47943FA04A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861E17A-D202-0F94-3536-F096A6922776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9807CDA-3F8A-6313-2057-0690AAC0BFFA}"/>
              </a:ext>
            </a:extLst>
          </p:cNvPr>
          <p:cNvSpPr/>
          <p:nvPr/>
        </p:nvSpPr>
        <p:spPr>
          <a:xfrm>
            <a:off x="8046720" y="1097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81651C3-2A97-10C5-176A-395C275EA907}"/>
              </a:ext>
            </a:extLst>
          </p:cNvPr>
          <p:cNvSpPr/>
          <p:nvPr/>
        </p:nvSpPr>
        <p:spPr>
          <a:xfrm>
            <a:off x="548640" y="89611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0713DA-3E71-6E92-D71E-A1778D907513}"/>
              </a:ext>
            </a:extLst>
          </p:cNvPr>
          <p:cNvSpPr/>
          <p:nvPr/>
        </p:nvSpPr>
        <p:spPr>
          <a:xfrm>
            <a:off x="457200" y="16642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ADD70E3-948D-B79D-E527-06347EE288B9}"/>
              </a:ext>
            </a:extLst>
          </p:cNvPr>
          <p:cNvSpPr/>
          <p:nvPr/>
        </p:nvSpPr>
        <p:spPr>
          <a:xfrm>
            <a:off x="3749040" y="234907"/>
            <a:ext cx="1280160" cy="318638"/>
          </a:xfrm>
          <a:prstGeom prst="roundRect">
            <a:avLst>
              <a:gd name="adj" fmla="val 12903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cs typeface="Courier New" pitchFamily="34" charset="-120"/>
              </a:rPr>
              <a:t>CONSOLE OUTPUT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D90A1C6-5CB7-7D23-7CB6-AC7DEA5C35BF}"/>
              </a:ext>
            </a:extLst>
          </p:cNvPr>
          <p:cNvSpPr/>
          <p:nvPr/>
        </p:nvSpPr>
        <p:spPr>
          <a:xfrm>
            <a:off x="2286000" y="20574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2B8288D-26D1-C4BA-3A35-FC42399F29F4}"/>
              </a:ext>
            </a:extLst>
          </p:cNvPr>
          <p:cNvSpPr/>
          <p:nvPr/>
        </p:nvSpPr>
        <p:spPr>
          <a:xfrm>
            <a:off x="2286000" y="26974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7DF47D8-45DA-6FC5-F417-A783FB2B3BE3}"/>
              </a:ext>
            </a:extLst>
          </p:cNvPr>
          <p:cNvSpPr/>
          <p:nvPr/>
        </p:nvSpPr>
        <p:spPr>
          <a:xfrm>
            <a:off x="530352" y="33375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730BECE-F0D3-00AA-2BAE-06E1DDD07329}"/>
              </a:ext>
            </a:extLst>
          </p:cNvPr>
          <p:cNvSpPr/>
          <p:nvPr/>
        </p:nvSpPr>
        <p:spPr>
          <a:xfrm>
            <a:off x="5760720" y="17190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D56B3F8-0BED-86DD-DA44-7AC849D6E717}"/>
              </a:ext>
            </a:extLst>
          </p:cNvPr>
          <p:cNvSpPr/>
          <p:nvPr/>
        </p:nvSpPr>
        <p:spPr>
          <a:xfrm>
            <a:off x="5870448" y="27157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495734-A188-65F9-AC49-AA80CB245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56" y="610308"/>
            <a:ext cx="7652088" cy="437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754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18 –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1371600"/>
          </a:xfrm>
          <a:prstGeom prst="roundRect">
            <a:avLst>
              <a:gd name="adj" fmla="val 9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241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0040" y="1719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50592" y="960120"/>
            <a:ext cx="1920240" cy="1371600"/>
          </a:xfrm>
          <a:prstGeom prst="roundRect">
            <a:avLst>
              <a:gd name="adj" fmla="val 9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0241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50592" y="1719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81144" y="960120"/>
            <a:ext cx="1920240" cy="1371600"/>
          </a:xfrm>
          <a:prstGeom prst="roundRect">
            <a:avLst>
              <a:gd name="adj" fmla="val 93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0241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81144" y="1719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11696" y="960120"/>
            <a:ext cx="1920240" cy="1371600"/>
          </a:xfrm>
          <a:prstGeom prst="roundRect">
            <a:avLst>
              <a:gd name="adj" fmla="val 9333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1696" y="10241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711696" y="1719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320040" y="2487168"/>
          <a:ext cx="8503920" cy="22860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Registration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&amp; Logout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Funds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Funds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Payment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Payment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320040" y="4864608"/>
            <a:ext cx="8503920" cy="201168"/>
          </a:xfrm>
          <a:prstGeom prst="roundRect">
            <a:avLst>
              <a:gd name="adj" fmla="val 22727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All 4 test cases PASSED — 100% Pass Rate  |  Tests Run: 4  |  Pass: 4  |  Fail: 0  |  Skip: 0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E13109-D38B-29DC-DFF1-8A0A394D0907}"/>
              </a:ext>
            </a:extLst>
          </p:cNvPr>
          <p:cNvSpPr txBox="1"/>
          <p:nvPr/>
        </p:nvSpPr>
        <p:spPr>
          <a:xfrm>
            <a:off x="2785730" y="225410"/>
            <a:ext cx="3925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Test Execution Results</a:t>
            </a:r>
            <a:endParaRPr lang="en-IN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17F4E216-A65D-B7F1-0A5A-DB440FB6BE4A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18064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19 – Challenges &amp;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5156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51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Dynamic Username Generation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13632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CD4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434840" y="1051560"/>
            <a:ext cx="4315968" cy="502920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0515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Solved using TestDataGenerator utility with System.currentTimeMillis()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64792"/>
            <a:ext cx="85039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856232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8562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Login Failures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13632" y="19019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CD4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434840" y="1856232"/>
            <a:ext cx="4315968" cy="502920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8562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Handled using shared test data passed via BaseTest static variable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569464"/>
            <a:ext cx="85039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660904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6609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Synchronization Issues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13632" y="27066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CD4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434840" y="2660904"/>
            <a:ext cx="4315968" cy="502920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66090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Implemented Explicit Waits (WebDriverWait + ExpectedConditions)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374136"/>
            <a:ext cx="85039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3465576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4655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Element Identification Issues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13632" y="35112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CD4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434840" y="3465576"/>
            <a:ext cx="4315968" cy="502920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46557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Used robust CSS and ID locators, organized in POM page classes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178808"/>
            <a:ext cx="85039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4270248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2702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Screenshot Capture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13632" y="43159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CD4"/>
                </a:solidFill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4434840" y="4270248"/>
            <a:ext cx="4315968" cy="502920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42702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Implemented ScreenshotUtil with TakesScreenshot interface</a:t>
            </a:r>
            <a:endParaRPr 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55C0EB-3EB2-2430-8C96-ECBB5EAA94C9}"/>
              </a:ext>
            </a:extLst>
          </p:cNvPr>
          <p:cNvSpPr txBox="1"/>
          <p:nvPr/>
        </p:nvSpPr>
        <p:spPr>
          <a:xfrm>
            <a:off x="3083442" y="216904"/>
            <a:ext cx="323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IN" dirty="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AA04C459-4790-90F2-E82A-8331DFDCBCC9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1490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20 – Conclusion &amp; Future Enhancements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11224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Successfully Automated: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4813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0482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642616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6151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Funds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3209544"/>
            <a:ext cx="292608" cy="29260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182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767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041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 ·  Java  ·  Maven  ·  TestNG  ·  Page Object Model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91440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112240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9D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Enhancements: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28032" y="1481328"/>
            <a:ext cx="3767328" cy="438912"/>
          </a:xfrm>
          <a:prstGeom prst="roundRect">
            <a:avLst>
              <a:gd name="adj" fmla="val 14583"/>
            </a:avLst>
          </a:prstGeom>
          <a:solidFill>
            <a:srgbClr val="1C2F5A"/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4813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Extent Reports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28032" y="2029968"/>
            <a:ext cx="3767328" cy="438912"/>
          </a:xfrm>
          <a:prstGeom prst="roundRect">
            <a:avLst>
              <a:gd name="adj" fmla="val 14583"/>
            </a:avLst>
          </a:prstGeom>
          <a:solidFill>
            <a:srgbClr val="1C2F5A"/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0299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Jenkins Integration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28032" y="2578608"/>
            <a:ext cx="3767328" cy="438912"/>
          </a:xfrm>
          <a:prstGeom prst="roundRect">
            <a:avLst>
              <a:gd name="adj" fmla="val 14583"/>
            </a:avLst>
          </a:prstGeom>
          <a:solidFill>
            <a:srgbClr val="1C2F5A"/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5786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Data Driven Testing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28032" y="3127248"/>
            <a:ext cx="3767328" cy="438912"/>
          </a:xfrm>
          <a:prstGeom prst="roundRect">
            <a:avLst>
              <a:gd name="adj" fmla="val 14583"/>
            </a:avLst>
          </a:prstGeom>
          <a:solidFill>
            <a:srgbClr val="1C2F5A"/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1272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Parallel Execution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28032" y="3675888"/>
            <a:ext cx="3767328" cy="438912"/>
          </a:xfrm>
          <a:prstGeom prst="roundRect">
            <a:avLst>
              <a:gd name="adj" fmla="val 14583"/>
            </a:avLst>
          </a:prstGeom>
          <a:solidFill>
            <a:srgbClr val="1C2F5A"/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67588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CI/CD Pipeline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" y="45720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Thank You  |  Questions &amp; Answers  |  Presented By  Nithin Princy</a:t>
            </a:r>
            <a:endParaRPr 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3F6D7E-7FA6-2A8E-11A6-5DEA3410D68A}"/>
              </a:ext>
            </a:extLst>
          </p:cNvPr>
          <p:cNvSpPr txBox="1"/>
          <p:nvPr/>
        </p:nvSpPr>
        <p:spPr>
          <a:xfrm>
            <a:off x="2313645" y="272193"/>
            <a:ext cx="418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Enhancements</a:t>
            </a:r>
            <a:endParaRPr lang="en-IN" dirty="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505A6FDB-853E-8D81-6833-EB18BA1163B6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5563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1320</Words>
  <Application>Microsoft Office PowerPoint</Application>
  <PresentationFormat>On-screen Show (16:9)</PresentationFormat>
  <Paragraphs>412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Cambria</vt:lpstr>
      <vt:lpstr>Consolas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ParaBank Automation Framework</dc:title>
  <dc:subject>PptxGenJS Presentation</dc:subject>
  <dc:creator>PptxGenJS</dc:creator>
  <cp:lastModifiedBy>GUGLAVATH NITHIN</cp:lastModifiedBy>
  <cp:revision>6</cp:revision>
  <dcterms:created xsi:type="dcterms:W3CDTF">2026-06-12T04:07:13Z</dcterms:created>
  <dcterms:modified xsi:type="dcterms:W3CDTF">2026-06-15T17:45:23Z</dcterms:modified>
</cp:coreProperties>
</file>